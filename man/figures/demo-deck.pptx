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rapid absorption phase in the first 1-2 hours, then the</a:t>
            </a:r>
          </a:p>
          <a:p>
            <a:r>
              <a:t>slower elimination tail. No PK modeling is shown here -- this is the</a:t>
            </a:r>
          </a:p>
          <a:p>
            <a:r>
              <a:t>raw observed data only.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F7FBFF"/>
            </a:gs>
            <a:gs pos="100000">
              <a:srgbClr val="9ECAE1"/>
            </a:gs>
          </a:gsLst>
          <a:lin scaled="0" ang="13500000"/>
        </a:gradFill>
        <a:effectLst/>
      </p:bgPr>
    </p:bg>
    <p:spTree>
      <p:nvGrpSpPr>
        <p:cNvPr id="1" name=""/>
        <p:cNvGrpSpPr/>
        <p:nvPr/>
      </p:nvGrpSpPr>
      <p:grpSpPr/>
      <p:pic>
        <p:nvPicPr>
          <p:cNvPr id="2" name="__furniture_background" descr="Background image"/>
          <p:cNvPicPr>
            <a:picLocks noChangeAspect="1"/>
          </p:cNvPicPr>
          <p:nvPr/>
        </p:nvPicPr>
        <p:blipFill>
          <a:blip r:embed="rId2"/>
          <a:srcRect/>
          <a:stretch>
            <a:fillRect/>
          </a:stretch>
        </p:blipFill>
        <p:spPr>
          <a:xfrm>
            <a:off x="0" y="86"/>
            <a:ext cx="12191695" cy="6857828"/>
          </a:xfrm>
          <a:prstGeom prst="rect">
            <a:avLst/>
          </a:prstGeom>
        </p:spPr>
      </p:pic>
      <p:sp>
        <p:nvSpPr>
          <p:cNvPr id="3" name="__furniture_branding"/>
          <p:cNvSpPr txBox="1"/>
          <p:nvPr/>
        </p:nvSpPr>
        <p:spPr>
          <a:xfrm>
            <a:off x="320040" y="6446520"/>
            <a:ext cx="3657600" cy="274320"/>
          </a:xfrm>
          <a:prstGeom prst="rect">
            <a:avLst/>
          </a:prstGeom>
          <a:noFill/>
        </p:spPr>
        <p:txBody>
          <a:bodyPr wrap="square" lIns="0" rIns="0" tIns="0" bIns="0">
            <a:spAutoFit/>
          </a:bodyPr>
          <a:lstStyle/>
          <a:p>
            <a:r>
              <a:rPr sz="800" b="0" i="0">
                <a:solidFill>
                  <a:srgbClr val="5F6368"/>
                </a:solidFill>
                <a:latin typeface="Arial"/>
              </a:rPr>
              <a:t>Deckifyr Demo</a:t>
            </a:r>
          </a:p>
        </p:txBody>
      </p:sp>
      <p:sp>
        <p:nvSpPr>
          <p:cNvPr id="4" name="__furniture_page_number"/>
          <p:cNvSpPr txBox="1"/>
          <p:nvPr/>
        </p:nvSpPr>
        <p:spPr>
          <a:xfrm>
            <a:off x="5029200" y="6446520"/>
            <a:ext cx="914400" cy="274320"/>
          </a:xfrm>
          <a:prstGeom prst="rect">
            <a:avLst/>
          </a:prstGeom>
          <a:noFill/>
        </p:spPr>
        <p:txBody>
          <a:bodyPr wrap="square" lIns="0" rIns="0" tIns="0" bIns="0">
            <a:spAutoFit/>
          </a:bodyPr>
          <a:lstStyle/>
          <a:p>
            <a:r>
              <a:rPr sz="800" b="0" i="0">
                <a:solidFill>
                  <a:srgbClr val="5F6368"/>
                </a:solidFill>
                <a:latin typeface="Arial"/>
              </a:rPr>
              <a:t>1 / 6</a:t>
            </a:r>
          </a:p>
        </p:txBody>
      </p:sp>
      <p:sp>
        <p:nvSpPr>
          <p:cNvPr id="5" name="deck-title"/>
          <p:cNvSpPr txBox="1"/>
          <p:nvPr/>
        </p:nvSpPr>
        <p:spPr>
          <a:xfrm>
            <a:off x="822960" y="2194560"/>
            <a:ext cx="10515600" cy="1005840"/>
          </a:xfrm>
          <a:prstGeom prst="rect">
            <a:avLst/>
          </a:prstGeom>
          <a:noFill/>
        </p:spPr>
        <p:txBody>
          <a:bodyPr wrap="square" lIns="0" rIns="0" tIns="0" bIns="0">
            <a:spAutoFit/>
          </a:bodyPr>
          <a:lstStyle/>
          <a:p>
            <a:r>
              <a:rPr sz="2800" b="1" i="0">
                <a:solidFill>
                  <a:srgbClr val="2457A6"/>
                </a:solidFill>
                <a:latin typeface="Arial"/>
              </a:rPr>
              <a:t>Theophylline PK Summary</a:t>
            </a:r>
          </a:p>
        </p:txBody>
      </p:sp>
      <p:sp>
        <p:nvSpPr>
          <p:cNvPr id="6" name="deck-subtitle"/>
          <p:cNvSpPr txBox="1"/>
          <p:nvPr/>
        </p:nvSpPr>
        <p:spPr>
          <a:xfrm>
            <a:off x="822960" y="3246120"/>
            <a:ext cx="10515600" cy="548640"/>
          </a:xfrm>
          <a:prstGeom prst="rect">
            <a:avLst/>
          </a:prstGeom>
          <a:noFill/>
        </p:spPr>
        <p:txBody>
          <a:bodyPr wrap="square" lIns="0" rIns="0" tIns="0" bIns="0">
            <a:spAutoFit/>
          </a:bodyPr>
          <a:lstStyle/>
          <a:p>
            <a:r>
              <a:rPr sz="1800" b="0" i="1">
                <a:solidFill>
                  <a:srgbClr val="5F6368"/>
                </a:solidFill>
                <a:latin typeface="Arial"/>
              </a:rPr>
              <a:t>Concentration-time profiles from the built-in Theoph dataset</a:t>
            </a:r>
          </a:p>
        </p:txBody>
      </p:sp>
      <p:sp>
        <p:nvSpPr>
          <p:cNvPr id="7" name="__furniture_status"/>
          <p:cNvSpPr txBox="1"/>
          <p:nvPr/>
        </p:nvSpPr>
        <p:spPr>
          <a:xfrm rot="19800000">
            <a:off x="1371600" y="2286000"/>
            <a:ext cx="9448495" cy="2286000"/>
          </a:xfrm>
          <a:prstGeom prst="rect">
            <a:avLst/>
          </a:prstGeom>
          <a:noFill/>
        </p:spPr>
        <p:txBody>
          <a:bodyPr wrap="square" lIns="0" rIns="0" tIns="0" bIns="0" anchor="ctr">
            <a:spAutoFit/>
          </a:bodyPr>
          <a:lstStyle/>
          <a:p>
            <a:pPr algn="ctr"/>
            <a:r>
              <a:rPr sz="9600" b="1" i="0">
                <a:solidFill>
                  <a:srgbClr val="2457A6">
                    <a:alpha val="28000"/>
                  </a:srgbClr>
                </a:solidFill>
                <a:latin typeface="Arial"/>
              </a:rPr>
              <a:t>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F7FBFF"/>
            </a:gs>
            <a:gs pos="100000">
              <a:srgbClr val="9ECAE1"/>
            </a:gs>
          </a:gsLst>
          <a:lin scaled="0" ang="13500000"/>
        </a:gradFill>
        <a:effectLst/>
      </p:bgPr>
    </p:bg>
    <p:spTree>
      <p:nvGrpSpPr>
        <p:cNvPr id="1" name=""/>
        <p:cNvGrpSpPr/>
        <p:nvPr/>
      </p:nvGrpSpPr>
      <p:grpSpPr/>
      <p:pic>
        <p:nvPicPr>
          <p:cNvPr id="2" name="__furniture_background" descr="Background image"/>
          <p:cNvPicPr>
            <a:picLocks noChangeAspect="1"/>
          </p:cNvPicPr>
          <p:nvPr/>
        </p:nvPicPr>
        <p:blipFill>
          <a:blip r:embed="rId2"/>
          <a:srcRect/>
          <a:stretch>
            <a:fillRect/>
          </a:stretch>
        </p:blipFill>
        <p:spPr>
          <a:xfrm>
            <a:off x="0" y="86"/>
            <a:ext cx="12191695" cy="6857828"/>
          </a:xfrm>
          <a:prstGeom prst="rect">
            <a:avLst/>
          </a:prstGeom>
        </p:spPr>
      </p:pic>
      <p:sp>
        <p:nvSpPr>
          <p:cNvPr id="3" name="__furniture_branding"/>
          <p:cNvSpPr txBox="1"/>
          <p:nvPr/>
        </p:nvSpPr>
        <p:spPr>
          <a:xfrm>
            <a:off x="320040" y="6446520"/>
            <a:ext cx="3657600" cy="274320"/>
          </a:xfrm>
          <a:prstGeom prst="rect">
            <a:avLst/>
          </a:prstGeom>
          <a:noFill/>
        </p:spPr>
        <p:txBody>
          <a:bodyPr wrap="square" lIns="0" rIns="0" tIns="0" bIns="0">
            <a:spAutoFit/>
          </a:bodyPr>
          <a:lstStyle/>
          <a:p>
            <a:r>
              <a:rPr sz="800" b="0" i="0">
                <a:solidFill>
                  <a:srgbClr val="5F6368"/>
                </a:solidFill>
                <a:latin typeface="Arial"/>
              </a:rPr>
              <a:t>Deckifyr Demo</a:t>
            </a:r>
          </a:p>
        </p:txBody>
      </p:sp>
      <p:sp>
        <p:nvSpPr>
          <p:cNvPr id="4" name="__furniture_page_number"/>
          <p:cNvSpPr txBox="1"/>
          <p:nvPr/>
        </p:nvSpPr>
        <p:spPr>
          <a:xfrm>
            <a:off x="5029200" y="6446520"/>
            <a:ext cx="914400" cy="274320"/>
          </a:xfrm>
          <a:prstGeom prst="rect">
            <a:avLst/>
          </a:prstGeom>
          <a:noFill/>
        </p:spPr>
        <p:txBody>
          <a:bodyPr wrap="square" lIns="0" rIns="0" tIns="0" bIns="0">
            <a:spAutoFit/>
          </a:bodyPr>
          <a:lstStyle/>
          <a:p>
            <a:r>
              <a:rPr sz="800" b="0" i="0">
                <a:solidFill>
                  <a:srgbClr val="5F6368"/>
                </a:solidFill>
                <a:latin typeface="Arial"/>
              </a:rPr>
              <a:t>2 / 6</a:t>
            </a:r>
          </a:p>
        </p:txBody>
      </p:sp>
      <p:sp>
        <p:nvSpPr>
          <p:cNvPr id="5" name="title"/>
          <p:cNvSpPr txBox="1"/>
          <p:nvPr/>
        </p:nvSpPr>
        <p:spPr>
          <a:xfrm>
            <a:off x="640080" y="320040"/>
            <a:ext cx="10881360" cy="594360"/>
          </a:xfrm>
          <a:prstGeom prst="rect">
            <a:avLst/>
          </a:prstGeom>
          <a:noFill/>
        </p:spPr>
        <p:txBody>
          <a:bodyPr wrap="square" lIns="0" rIns="0" tIns="0" bIns="0">
            <a:spAutoFit/>
          </a:bodyPr>
          <a:lstStyle/>
          <a:p>
            <a:r>
              <a:rPr sz="2800" b="1" i="0">
                <a:solidFill>
                  <a:srgbClr val="2457A6"/>
                </a:solidFill>
                <a:latin typeface="Arial"/>
              </a:rPr>
              <a:t>Concentration-Time Profile</a:t>
            </a:r>
          </a:p>
        </p:txBody>
      </p:sp>
      <p:pic>
        <p:nvPicPr>
          <p:cNvPr id="6" name="figure" descr="Line plot of theophylline serum concentration over time for each of the 12 participants in the Theoph dataset, showing a rapid rise to peak concentration within the first few hours followed by a gradual decline."/>
          <p:cNvPicPr>
            <a:picLocks noChangeAspect="1"/>
          </p:cNvPicPr>
          <p:nvPr/>
        </p:nvPicPr>
        <p:blipFill>
          <a:blip r:embed="rId3"/>
          <a:srcRect/>
          <a:stretch>
            <a:fillRect/>
          </a:stretch>
        </p:blipFill>
        <p:spPr>
          <a:xfrm>
            <a:off x="662940" y="1143000"/>
            <a:ext cx="6720840" cy="4480560"/>
          </a:xfrm>
          <a:prstGeom prst="rect">
            <a:avLst/>
          </a:prstGeom>
        </p:spPr>
      </p:pic>
      <p:sp>
        <p:nvSpPr>
          <p:cNvPr id="7" name="figure__footer"/>
          <p:cNvSpPr txBox="1"/>
          <p:nvPr/>
        </p:nvSpPr>
        <p:spPr>
          <a:xfrm>
            <a:off x="640080" y="5623560"/>
            <a:ext cx="6766560" cy="365760"/>
          </a:xfrm>
          <a:prstGeom prst="rect">
            <a:avLst/>
          </a:prstGeom>
          <a:noFill/>
        </p:spPr>
        <p:txBody>
          <a:bodyPr wrap="square" lIns="0" rIns="0" tIns="0" bIns="0">
            <a:spAutoFit/>
          </a:bodyPr>
          <a:lstStyle/>
          <a:p>
            <a:r>
              <a:rPr sz="800" b="0" i="0">
                <a:solidFill>
                  <a:srgbClr val="5F6368"/>
                </a:solidFill>
                <a:latin typeface="Arial"/>
              </a:rPr>
              <a:t>Source: scripts/01_analysis.R 2026-08-11 22:28:55</a:t>
            </a:r>
          </a:p>
          <a:p>
            <a:r>
              <a:rPr sz="800" b="0" i="0">
                <a:solidFill>
                  <a:srgbClr val="5F6368"/>
                </a:solidFill>
                <a:latin typeface="Arial"/>
              </a:rPr>
              <a:t>Notes: This plot shows individual concentration-time trajectories for subjects in the study. The x-axis represents time (hours) and the y-axis shows drug concentration (ng/mL). Each line corresponds to a subject's concentration profile, illustrating variability in pharmacokinetics across the population. Key points like peak concentration (Cmax) and time to peak (Tmax) can be identified visually. No aggregation or smoothing has been applied, preserving the raw individual data. Data are from the built-in Theoph dataset.</a:t>
            </a:r>
          </a:p>
          <a:p>
            <a:r>
              <a:rPr sz="800" b="0" i="0">
                <a:solidFill>
                  <a:srgbClr val="5F6368"/>
                </a:solidFill>
                <a:latin typeface="Arial"/>
              </a:rPr>
              <a:t>Abbreviations: PK: pharmacokinetic.</a:t>
            </a:r>
          </a:p>
        </p:txBody>
      </p:sp>
      <p:sp>
        <p:nvSpPr>
          <p:cNvPr id="8" name="note"/>
          <p:cNvSpPr txBox="1"/>
          <p:nvPr/>
        </p:nvSpPr>
        <p:spPr>
          <a:xfrm>
            <a:off x="7589520" y="1143000"/>
            <a:ext cx="3931920" cy="4480560"/>
          </a:xfrm>
          <a:prstGeom prst="rect">
            <a:avLst/>
          </a:prstGeom>
          <a:noFill/>
        </p:spPr>
        <p:txBody>
          <a:bodyPr wrap="square" lIns="0" rIns="0" tIns="0" bIns="0">
            <a:spAutoFit/>
          </a:bodyPr>
          <a:lstStyle/>
          <a:p>
            <a:r>
              <a:rPr sz="1600" b="1" i="0">
                <a:solidFill>
                  <a:srgbClr val="202124"/>
                </a:solidFill>
                <a:latin typeface="Arial"/>
              </a:rPr>
              <a:t>Data source</a:t>
            </a:r>
          </a:p>
          <a:p>
            <a:r>
              <a:rPr sz="1600" b="0" i="0">
                <a:solidFill>
                  <a:srgbClr val="202124"/>
                </a:solidFill>
                <a:latin typeface="Arial"/>
              </a:rPr>
              <a:t>Data are from the built-in </a:t>
            </a:r>
            <a:r>
              <a:rPr sz="1600" b="0" i="1">
                <a:solidFill>
                  <a:srgbClr val="202124"/>
                </a:solidFill>
                <a:latin typeface="Arial"/>
              </a:rPr>
              <a:t>Theoph</a:t>
            </a:r>
            <a:r>
              <a:rPr sz="1600" b="0" i="0">
                <a:solidFill>
                  <a:srgbClr val="202124"/>
                </a:solidFill>
                <a:latin typeface="Arial"/>
              </a:rPr>
              <a:t> dataset, produced by reportifyr's two-pass pipeline (see quartifyr's demo-report example).</a:t>
            </a:r>
          </a:p>
          <a:p>
            <a:r>
              <a:rPr sz="1600" b="0" i="0">
                <a:solidFill>
                  <a:srgbClr val="202124"/>
                </a:solidFill>
                <a:latin typeface="Arial"/>
              </a:rPr>
              <a:t>Each line traces one participant's observed PK profile after a single oral dose; no model-based estimation was performed.</a:t>
            </a:r>
          </a:p>
        </p:txBody>
      </p:sp>
      <p:sp>
        <p:nvSpPr>
          <p:cNvPr id="9" name="__furniture_status"/>
          <p:cNvSpPr txBox="1"/>
          <p:nvPr/>
        </p:nvSpPr>
        <p:spPr>
          <a:xfrm rot="19800000">
            <a:off x="1371600" y="2286000"/>
            <a:ext cx="9448495" cy="2286000"/>
          </a:xfrm>
          <a:prstGeom prst="rect">
            <a:avLst/>
          </a:prstGeom>
          <a:noFill/>
        </p:spPr>
        <p:txBody>
          <a:bodyPr wrap="square" lIns="0" rIns="0" tIns="0" bIns="0" anchor="ctr">
            <a:spAutoFit/>
          </a:bodyPr>
          <a:lstStyle/>
          <a:p>
            <a:pPr algn="ctr"/>
            <a:r>
              <a:rPr sz="9600" b="1" i="0">
                <a:solidFill>
                  <a:srgbClr val="2457A6">
                    <a:alpha val="28000"/>
                  </a:srgbClr>
                </a:solidFill>
                <a:latin typeface="Arial"/>
              </a:rPr>
              <a:t>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7FBFF"/>
            </a:gs>
            <a:gs pos="100000">
              <a:srgbClr val="9ECAE1"/>
            </a:gs>
          </a:gsLst>
          <a:lin scaled="0" ang="13500000"/>
        </a:gradFill>
        <a:effectLst/>
      </p:bgPr>
    </p:bg>
    <p:spTree>
      <p:nvGrpSpPr>
        <p:cNvPr id="1" name=""/>
        <p:cNvGrpSpPr/>
        <p:nvPr/>
      </p:nvGrpSpPr>
      <p:grpSpPr/>
      <p:pic>
        <p:nvPicPr>
          <p:cNvPr id="2" name="__furniture_background" descr="Background image"/>
          <p:cNvPicPr>
            <a:picLocks noChangeAspect="1"/>
          </p:cNvPicPr>
          <p:nvPr/>
        </p:nvPicPr>
        <p:blipFill>
          <a:blip r:embed="rId2"/>
          <a:srcRect/>
          <a:stretch>
            <a:fillRect/>
          </a:stretch>
        </p:blipFill>
        <p:spPr>
          <a:xfrm>
            <a:off x="0" y="86"/>
            <a:ext cx="12191695" cy="6857828"/>
          </a:xfrm>
          <a:prstGeom prst="rect">
            <a:avLst/>
          </a:prstGeom>
        </p:spPr>
      </p:pic>
      <p:sp>
        <p:nvSpPr>
          <p:cNvPr id="3" name="__furniture_branding"/>
          <p:cNvSpPr txBox="1"/>
          <p:nvPr/>
        </p:nvSpPr>
        <p:spPr>
          <a:xfrm>
            <a:off x="320040" y="6446520"/>
            <a:ext cx="3657600" cy="274320"/>
          </a:xfrm>
          <a:prstGeom prst="rect">
            <a:avLst/>
          </a:prstGeom>
          <a:noFill/>
        </p:spPr>
        <p:txBody>
          <a:bodyPr wrap="square" lIns="0" rIns="0" tIns="0" bIns="0">
            <a:spAutoFit/>
          </a:bodyPr>
          <a:lstStyle/>
          <a:p>
            <a:r>
              <a:rPr sz="800" b="0" i="0">
                <a:solidFill>
                  <a:srgbClr val="5F6368"/>
                </a:solidFill>
                <a:latin typeface="Arial"/>
              </a:rPr>
              <a:t>Deckifyr Demo</a:t>
            </a:r>
          </a:p>
        </p:txBody>
      </p:sp>
      <p:sp>
        <p:nvSpPr>
          <p:cNvPr id="4" name="__furniture_page_number"/>
          <p:cNvSpPr txBox="1"/>
          <p:nvPr/>
        </p:nvSpPr>
        <p:spPr>
          <a:xfrm>
            <a:off x="5029200" y="6446520"/>
            <a:ext cx="914400" cy="274320"/>
          </a:xfrm>
          <a:prstGeom prst="rect">
            <a:avLst/>
          </a:prstGeom>
          <a:noFill/>
        </p:spPr>
        <p:txBody>
          <a:bodyPr wrap="square" lIns="0" rIns="0" tIns="0" bIns="0">
            <a:spAutoFit/>
          </a:bodyPr>
          <a:lstStyle/>
          <a:p>
            <a:r>
              <a:rPr sz="800" b="0" i="0">
                <a:solidFill>
                  <a:srgbClr val="5F6368"/>
                </a:solidFill>
                <a:latin typeface="Arial"/>
              </a:rPr>
              <a:t>3 / 6</a:t>
            </a:r>
          </a:p>
        </p:txBody>
      </p:sp>
      <p:sp>
        <p:nvSpPr>
          <p:cNvPr id="5" name="title"/>
          <p:cNvSpPr txBox="1"/>
          <p:nvPr/>
        </p:nvSpPr>
        <p:spPr>
          <a:xfrm>
            <a:off x="640080" y="320040"/>
            <a:ext cx="10881360" cy="594360"/>
          </a:xfrm>
          <a:prstGeom prst="rect">
            <a:avLst/>
          </a:prstGeom>
          <a:noFill/>
        </p:spPr>
        <p:txBody>
          <a:bodyPr wrap="square" lIns="0" rIns="0" tIns="0" bIns="0">
            <a:spAutoFit/>
          </a:bodyPr>
          <a:lstStyle/>
          <a:p>
            <a:r>
              <a:rPr sz="2800" b="1" i="0">
                <a:solidFill>
                  <a:srgbClr val="2457A6"/>
                </a:solidFill>
                <a:latin typeface="Arial"/>
              </a:rPr>
              <a:t>Elimination Half-Life</a:t>
            </a:r>
          </a:p>
        </p:txBody>
      </p:sp>
      <p:pic>
        <p:nvPicPr>
          <p:cNvPr id="6" name="figure" descr="First-order elimination equation: concentration at time t equals the initial concentration times e to the power of negative the elimination rate constant times t; half-life equals the natural log of 2 divided by the elimination rate constant."/>
          <p:cNvPicPr>
            <a:picLocks noChangeAspect="1"/>
          </p:cNvPicPr>
          <p:nvPr/>
        </p:nvPicPr>
        <p:blipFill>
          <a:blip r:embed="rId3"/>
          <a:srcRect/>
          <a:stretch>
            <a:fillRect/>
          </a:stretch>
        </p:blipFill>
        <p:spPr>
          <a:xfrm>
            <a:off x="640080" y="2512336"/>
            <a:ext cx="6766560" cy="1741887"/>
          </a:xfrm>
          <a:prstGeom prst="rect">
            <a:avLst/>
          </a:prstGeom>
        </p:spPr>
      </p:pic>
      <p:sp>
        <p:nvSpPr>
          <p:cNvPr id="7" name="note"/>
          <p:cNvSpPr txBox="1"/>
          <p:nvPr/>
        </p:nvSpPr>
        <p:spPr>
          <a:xfrm>
            <a:off x="7589520" y="1143000"/>
            <a:ext cx="3931920" cy="4480560"/>
          </a:xfrm>
          <a:prstGeom prst="rect">
            <a:avLst/>
          </a:prstGeom>
          <a:noFill/>
        </p:spPr>
        <p:txBody>
          <a:bodyPr wrap="square" lIns="0" rIns="0" tIns="0" bIns="0">
            <a:spAutoFit/>
          </a:bodyPr>
          <a:lstStyle/>
          <a:p>
            <a:r>
              <a:rPr sz="1600" b="0" i="0">
                <a:solidFill>
                  <a:srgbClr val="202124"/>
                </a:solidFill>
                <a:latin typeface="Arial"/>
              </a:rPr>
              <a:t>Fitting a simple log-linear elimination model to each of the 12 participants’ terminal-phase concentrations in the built-in `Theoph` dataset gives a population mean elimination half-life of </a:t>
            </a:r>
            <a:r>
              <a:rPr sz="1600" b="1" i="0">
                <a:solidFill>
                  <a:srgbClr val="202124"/>
                </a:solidFill>
                <a:latin typeface="Arial"/>
              </a:rPr>
              <a:t>8.5 hours</a:t>
            </a:r>
            <a:r>
              <a:rPr sz="1600" b="0" i="0">
                <a:solidFill>
                  <a:srgbClr val="202124"/>
                </a:solidFill>
                <a:latin typeface="Arial"/>
              </a:rPr>
              <a:t> – consistent with theophylline’s established ~8-hour half-life.</a:t>
            </a:r>
          </a:p>
          <a:p>
            <a:r>
              <a:rPr sz="1600" b="0" i="0">
                <a:solidFill>
                  <a:srgbClr val="202124"/>
                </a:solidFill>
                <a:latin typeface="Arial"/>
              </a:rPr>
              <a:t>This is a simple per-participant regression for illustration, not a population PK model.</a:t>
            </a:r>
          </a:p>
        </p:txBody>
      </p:sp>
      <p:sp>
        <p:nvSpPr>
          <p:cNvPr id="8" name="__furniture_status"/>
          <p:cNvSpPr txBox="1"/>
          <p:nvPr/>
        </p:nvSpPr>
        <p:spPr>
          <a:xfrm rot="19800000">
            <a:off x="1371600" y="2286000"/>
            <a:ext cx="9448495" cy="2286000"/>
          </a:xfrm>
          <a:prstGeom prst="rect">
            <a:avLst/>
          </a:prstGeom>
          <a:noFill/>
        </p:spPr>
        <p:txBody>
          <a:bodyPr wrap="square" lIns="0" rIns="0" tIns="0" bIns="0" anchor="ctr">
            <a:spAutoFit/>
          </a:bodyPr>
          <a:lstStyle/>
          <a:p>
            <a:pPr algn="ctr"/>
            <a:r>
              <a:rPr sz="9600" b="1" i="0">
                <a:solidFill>
                  <a:srgbClr val="2457A6">
                    <a:alpha val="28000"/>
                  </a:srgbClr>
                </a:solidFill>
                <a:latin typeface="Arial"/>
              </a:rPr>
              <a:t>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F7FBFF"/>
            </a:gs>
            <a:gs pos="100000">
              <a:srgbClr val="9ECAE1"/>
            </a:gs>
          </a:gsLst>
          <a:lin scaled="0" ang="13500000"/>
        </a:gradFill>
        <a:effectLst/>
      </p:bgPr>
    </p:bg>
    <p:spTree>
      <p:nvGrpSpPr>
        <p:cNvPr id="1" name=""/>
        <p:cNvGrpSpPr/>
        <p:nvPr/>
      </p:nvGrpSpPr>
      <p:grpSpPr/>
      <p:pic>
        <p:nvPicPr>
          <p:cNvPr id="2" name="__furniture_background" descr="Background image"/>
          <p:cNvPicPr>
            <a:picLocks noChangeAspect="1"/>
          </p:cNvPicPr>
          <p:nvPr/>
        </p:nvPicPr>
        <p:blipFill>
          <a:blip r:embed="rId2"/>
          <a:srcRect/>
          <a:stretch>
            <a:fillRect/>
          </a:stretch>
        </p:blipFill>
        <p:spPr>
          <a:xfrm>
            <a:off x="0" y="86"/>
            <a:ext cx="12191695" cy="6857828"/>
          </a:xfrm>
          <a:prstGeom prst="rect">
            <a:avLst/>
          </a:prstGeom>
        </p:spPr>
      </p:pic>
      <p:sp>
        <p:nvSpPr>
          <p:cNvPr id="3" name="__furniture_branding"/>
          <p:cNvSpPr txBox="1"/>
          <p:nvPr/>
        </p:nvSpPr>
        <p:spPr>
          <a:xfrm>
            <a:off x="320040" y="6446520"/>
            <a:ext cx="3657600" cy="274320"/>
          </a:xfrm>
          <a:prstGeom prst="rect">
            <a:avLst/>
          </a:prstGeom>
          <a:noFill/>
        </p:spPr>
        <p:txBody>
          <a:bodyPr wrap="square" lIns="0" rIns="0" tIns="0" bIns="0">
            <a:spAutoFit/>
          </a:bodyPr>
          <a:lstStyle/>
          <a:p>
            <a:r>
              <a:rPr sz="800" b="0" i="0">
                <a:solidFill>
                  <a:srgbClr val="5F6368"/>
                </a:solidFill>
                <a:latin typeface="Arial"/>
              </a:rPr>
              <a:t>Deckifyr Demo</a:t>
            </a:r>
          </a:p>
        </p:txBody>
      </p:sp>
      <p:sp>
        <p:nvSpPr>
          <p:cNvPr id="4" name="__furniture_page_number"/>
          <p:cNvSpPr txBox="1"/>
          <p:nvPr/>
        </p:nvSpPr>
        <p:spPr>
          <a:xfrm>
            <a:off x="5029200" y="6446520"/>
            <a:ext cx="914400" cy="274320"/>
          </a:xfrm>
          <a:prstGeom prst="rect">
            <a:avLst/>
          </a:prstGeom>
          <a:noFill/>
        </p:spPr>
        <p:txBody>
          <a:bodyPr wrap="square" lIns="0" rIns="0" tIns="0" bIns="0">
            <a:spAutoFit/>
          </a:bodyPr>
          <a:lstStyle/>
          <a:p>
            <a:r>
              <a:rPr sz="800" b="0" i="0">
                <a:solidFill>
                  <a:srgbClr val="5F6368"/>
                </a:solidFill>
                <a:latin typeface="Arial"/>
              </a:rPr>
              <a:t>4 / 6</a:t>
            </a:r>
          </a:p>
        </p:txBody>
      </p:sp>
      <p:sp>
        <p:nvSpPr>
          <p:cNvPr id="5" name="table-title"/>
          <p:cNvSpPr txBox="1"/>
          <p:nvPr/>
        </p:nvSpPr>
        <p:spPr>
          <a:xfrm>
            <a:off x="822960" y="457200"/>
            <a:ext cx="10515600" cy="594360"/>
          </a:xfrm>
          <a:prstGeom prst="rect">
            <a:avLst/>
          </a:prstGeom>
          <a:noFill/>
        </p:spPr>
        <p:txBody>
          <a:bodyPr wrap="square" lIns="0" rIns="0" tIns="0" bIns="0">
            <a:spAutoFit/>
          </a:bodyPr>
          <a:lstStyle/>
          <a:p>
            <a:r>
              <a:rPr sz="2800" b="1" i="0">
                <a:solidFill>
                  <a:srgbClr val="2457A6"/>
                </a:solidFill>
                <a:latin typeface="Arial"/>
              </a:rPr>
              <a:t>Per-Participant PK Summary</a:t>
            </a:r>
          </a:p>
        </p:txBody>
      </p:sp>
      <p:graphicFrame>
        <p:nvGraphicFramePr>
          <p:cNvPr id="6" name="pk-table" descr="Table of weight, dose, peak concentration, and time to peak concentration for each of the 12 participants in the Theoph dataset."/>
          <p:cNvGraphicFramePr>
            <a:graphicFrameLocks noGrp="1"/>
          </p:cNvGraphicFramePr>
          <p:nvPr/>
        </p:nvGraphicFramePr>
        <p:xfrm>
          <a:off x="822960" y="1234440"/>
          <a:ext cx="10515600" cy="45720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351692">
                <a:tc>
                  <a:txBody>
                    <a:bodyPr/>
                    <a:lstStyle/>
                    <a:p>
                      <a:r>
                        <a:rPr sz="1300" b="1" i="0">
                          <a:solidFill>
                            <a:srgbClr val="FFFFFF"/>
                          </a:solidFill>
                          <a:latin typeface="Arial"/>
                        </a:rPr>
                        <a:t>Participant</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Weight (kg)</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Dose (mg/kg)</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Cmax (mg/L)</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Tmax (hr)</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r>
              <a:tr h="351692">
                <a:tc>
                  <a:txBody>
                    <a:bodyPr/>
                    <a:lstStyle/>
                    <a:p>
                      <a:r>
                        <a:rPr sz="1300" b="0" i="0">
                          <a:solidFill>
                            <a:srgbClr val="202124"/>
                          </a:solidFill>
                          <a:latin typeface="Arial"/>
                        </a:rPr>
                        <a:t>1</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79.6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4.02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10.50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1.12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51692">
                <a:tc>
                  <a:txBody>
                    <a:bodyPr/>
                    <a:lstStyle/>
                    <a:p>
                      <a:r>
                        <a:rPr sz="1300" b="0" i="0">
                          <a:solidFill>
                            <a:srgbClr val="202124"/>
                          </a:solidFill>
                          <a:latin typeface="Arial"/>
                        </a:rPr>
                        <a:t>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72.4</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4.40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8.33</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1.92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51692">
                <a:tc>
                  <a:txBody>
                    <a:bodyPr/>
                    <a:lstStyle/>
                    <a:p>
                      <a:r>
                        <a:rPr sz="1300" b="0" i="0">
                          <a:solidFill>
                            <a:srgbClr val="202124"/>
                          </a:solidFill>
                          <a:latin typeface="Arial"/>
                        </a:rPr>
                        <a:t>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70.5</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4.53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8.20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1.02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51692">
                <a:tc>
                  <a:txBody>
                    <a:bodyPr/>
                    <a:lstStyle/>
                    <a:p>
                      <a:r>
                        <a:rPr sz="1300" b="0" i="0">
                          <a:solidFill>
                            <a:srgbClr val="202124"/>
                          </a:solidFill>
                          <a:latin typeface="Arial"/>
                        </a:rPr>
                        <a:t>4</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72.7</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4.40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8.60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1.07</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51692">
                <a:tc>
                  <a:txBody>
                    <a:bodyPr/>
                    <a:lstStyle/>
                    <a:p>
                      <a:r>
                        <a:rPr sz="1300" b="0" i="0">
                          <a:solidFill>
                            <a:srgbClr val="202124"/>
                          </a:solidFill>
                          <a:latin typeface="Arial"/>
                        </a:rPr>
                        <a:t>5</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54.6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5.86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11.40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1.00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51692">
                <a:tc>
                  <a:txBody>
                    <a:bodyPr/>
                    <a:lstStyle/>
                    <a:p>
                      <a:r>
                        <a:rPr sz="1300" b="0" i="0">
                          <a:solidFill>
                            <a:srgbClr val="202124"/>
                          </a:solidFill>
                          <a:latin typeface="Arial"/>
                        </a:rPr>
                        <a:t>6</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80.0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4.00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6.44</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1.15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51692">
                <a:tc>
                  <a:txBody>
                    <a:bodyPr/>
                    <a:lstStyle/>
                    <a:p>
                      <a:r>
                        <a:rPr sz="1300" b="0" i="0">
                          <a:solidFill>
                            <a:srgbClr val="202124"/>
                          </a:solidFill>
                          <a:latin typeface="Arial"/>
                        </a:rPr>
                        <a:t>7</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64.6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4.95</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7.09</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3.48</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51692">
                <a:tc>
                  <a:txBody>
                    <a:bodyPr/>
                    <a:lstStyle/>
                    <a:p>
                      <a:r>
                        <a:rPr sz="1300" b="0" i="0">
                          <a:solidFill>
                            <a:srgbClr val="202124"/>
                          </a:solidFill>
                          <a:latin typeface="Arial"/>
                        </a:rPr>
                        <a:t>8</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70.5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4.53</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7.56</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2.02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51692">
                <a:tc>
                  <a:txBody>
                    <a:bodyPr/>
                    <a:lstStyle/>
                    <a:p>
                      <a:r>
                        <a:rPr sz="1300" b="0" i="0">
                          <a:solidFill>
                            <a:srgbClr val="202124"/>
                          </a:solidFill>
                          <a:latin typeface="Arial"/>
                        </a:rPr>
                        <a:t>9</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86.4</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3.10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9.03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0.63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51692">
                <a:tc>
                  <a:txBody>
                    <a:bodyPr/>
                    <a:lstStyle/>
                    <a:p>
                      <a:r>
                        <a:rPr sz="1300" b="0" i="0">
                          <a:solidFill>
                            <a:srgbClr val="202124"/>
                          </a:solidFill>
                          <a:latin typeface="Arial"/>
                        </a:rPr>
                        <a:t>10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58.2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5.50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10.21</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3.55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51692">
                <a:tc>
                  <a:txBody>
                    <a:bodyPr/>
                    <a:lstStyle/>
                    <a:p>
                      <a:r>
                        <a:rPr sz="1300" b="0" i="0">
                          <a:solidFill>
                            <a:srgbClr val="202124"/>
                          </a:solidFill>
                          <a:latin typeface="Arial"/>
                        </a:rPr>
                        <a:t>11</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65.0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4.92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8.00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0.98</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51696">
                <a:tc>
                  <a:txBody>
                    <a:bodyPr/>
                    <a:lstStyle/>
                    <a:p>
                      <a:r>
                        <a:rPr sz="1300" b="0" i="0">
                          <a:solidFill>
                            <a:srgbClr val="202124"/>
                          </a:solidFill>
                          <a:latin typeface="Arial"/>
                        </a:rPr>
                        <a:t>12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60.5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5.30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9.75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3.52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bl>
          </a:graphicData>
        </a:graphic>
      </p:graphicFrame>
      <p:sp>
        <p:nvSpPr>
          <p:cNvPr id="7" name="__furniture_status"/>
          <p:cNvSpPr txBox="1"/>
          <p:nvPr/>
        </p:nvSpPr>
        <p:spPr>
          <a:xfrm rot="19800000">
            <a:off x="1371600" y="2286000"/>
            <a:ext cx="9448495" cy="2286000"/>
          </a:xfrm>
          <a:prstGeom prst="rect">
            <a:avLst/>
          </a:prstGeom>
          <a:noFill/>
        </p:spPr>
        <p:txBody>
          <a:bodyPr wrap="square" lIns="0" rIns="0" tIns="0" bIns="0" anchor="ctr">
            <a:spAutoFit/>
          </a:bodyPr>
          <a:lstStyle/>
          <a:p>
            <a:pPr algn="ctr"/>
            <a:r>
              <a:rPr sz="9600" b="1" i="0">
                <a:solidFill>
                  <a:srgbClr val="2457A6">
                    <a:alpha val="28000"/>
                  </a:srgbClr>
                </a:solidFill>
                <a:latin typeface="Arial"/>
              </a:rPr>
              <a:t>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7FBFF"/>
            </a:gs>
            <a:gs pos="100000">
              <a:srgbClr val="9ECAE1"/>
            </a:gs>
          </a:gsLst>
          <a:lin scaled="0" ang="13500000"/>
        </a:gradFill>
        <a:effectLst/>
      </p:bgPr>
    </p:bg>
    <p:spTree>
      <p:nvGrpSpPr>
        <p:cNvPr id="1" name=""/>
        <p:cNvGrpSpPr/>
        <p:nvPr/>
      </p:nvGrpSpPr>
      <p:grpSpPr/>
      <p:pic>
        <p:nvPicPr>
          <p:cNvPr id="2" name="__furniture_background" descr="Background image"/>
          <p:cNvPicPr>
            <a:picLocks noChangeAspect="1"/>
          </p:cNvPicPr>
          <p:nvPr/>
        </p:nvPicPr>
        <p:blipFill>
          <a:blip r:embed="rId2"/>
          <a:srcRect/>
          <a:stretch>
            <a:fillRect/>
          </a:stretch>
        </p:blipFill>
        <p:spPr>
          <a:xfrm>
            <a:off x="0" y="86"/>
            <a:ext cx="12191695" cy="6857828"/>
          </a:xfrm>
          <a:prstGeom prst="rect">
            <a:avLst/>
          </a:prstGeom>
        </p:spPr>
      </p:pic>
      <p:sp>
        <p:nvSpPr>
          <p:cNvPr id="3" name="__furniture_branding"/>
          <p:cNvSpPr txBox="1"/>
          <p:nvPr/>
        </p:nvSpPr>
        <p:spPr>
          <a:xfrm>
            <a:off x="320040" y="6446520"/>
            <a:ext cx="3657600" cy="274320"/>
          </a:xfrm>
          <a:prstGeom prst="rect">
            <a:avLst/>
          </a:prstGeom>
          <a:noFill/>
        </p:spPr>
        <p:txBody>
          <a:bodyPr wrap="square" lIns="0" rIns="0" tIns="0" bIns="0">
            <a:spAutoFit/>
          </a:bodyPr>
          <a:lstStyle/>
          <a:p>
            <a:r>
              <a:rPr sz="800" b="0" i="0">
                <a:solidFill>
                  <a:srgbClr val="5F6368"/>
                </a:solidFill>
                <a:latin typeface="Arial"/>
              </a:rPr>
              <a:t>Deckifyr Demo</a:t>
            </a:r>
          </a:p>
        </p:txBody>
      </p:sp>
      <p:sp>
        <p:nvSpPr>
          <p:cNvPr id="4" name="__furniture_page_number"/>
          <p:cNvSpPr txBox="1"/>
          <p:nvPr/>
        </p:nvSpPr>
        <p:spPr>
          <a:xfrm>
            <a:off x="5029200" y="6446520"/>
            <a:ext cx="914400" cy="274320"/>
          </a:xfrm>
          <a:prstGeom prst="rect">
            <a:avLst/>
          </a:prstGeom>
          <a:noFill/>
        </p:spPr>
        <p:txBody>
          <a:bodyPr wrap="square" lIns="0" rIns="0" tIns="0" bIns="0">
            <a:spAutoFit/>
          </a:bodyPr>
          <a:lstStyle/>
          <a:p>
            <a:r>
              <a:rPr sz="800" b="0" i="0">
                <a:solidFill>
                  <a:srgbClr val="5F6368"/>
                </a:solidFill>
                <a:latin typeface="Arial"/>
              </a:rPr>
              <a:t>5 / 6</a:t>
            </a:r>
          </a:p>
        </p:txBody>
      </p:sp>
      <p:sp>
        <p:nvSpPr>
          <p:cNvPr id="5" name="table-formats-title"/>
          <p:cNvSpPr txBox="1"/>
          <p:nvPr/>
        </p:nvSpPr>
        <p:spPr>
          <a:xfrm>
            <a:off x="822960" y="457200"/>
            <a:ext cx="10515600" cy="594360"/>
          </a:xfrm>
          <a:prstGeom prst="rect">
            <a:avLst/>
          </a:prstGeom>
          <a:noFill/>
        </p:spPr>
        <p:txBody>
          <a:bodyPr wrap="square" lIns="0" rIns="0" tIns="0" bIns="0">
            <a:spAutoFit/>
          </a:bodyPr>
          <a:lstStyle/>
          <a:p>
            <a:r>
              <a:rPr sz="2800" b="1" i="0">
                <a:solidFill>
                  <a:srgbClr val="2457A6"/>
                </a:solidFill>
                <a:latin typeface="Arial"/>
              </a:rPr>
              <a:t>Reportifyr Table Formats: Native vs. Flextable</a:t>
            </a:r>
          </a:p>
        </p:txBody>
      </p:sp>
      <p:graphicFrame>
        <p:nvGraphicFramePr>
          <p:cNvPr id="6" name="raw-table" descr="Table of weight, dose, peak concentration, and time to peak concentration for each of the 12 participants in the Theoph dataset."/>
          <p:cNvGraphicFramePr>
            <a:graphicFrameLocks noGrp="1"/>
          </p:cNvGraphicFramePr>
          <p:nvPr/>
        </p:nvGraphicFramePr>
        <p:xfrm>
          <a:off x="548640" y="1234440"/>
          <a:ext cx="6949440" cy="3931920"/>
        </p:xfrm>
        <a:graphic>
          <a:graphicData uri="http://schemas.openxmlformats.org/drawingml/2006/table">
            <a:tbl>
              <a:tblPr firstRow="1" bandRow="1">
                <a:tableStyleId>{5C22544A-7EE6-4342-B048-85BDC9FD1C3A}</a:tableStyleId>
              </a:tblPr>
              <a:tblGrid>
                <a:gridCol w="1389888"/>
                <a:gridCol w="1389888"/>
                <a:gridCol w="1389888"/>
                <a:gridCol w="1389888"/>
                <a:gridCol w="1389888"/>
              </a:tblGrid>
              <a:tr h="302455">
                <a:tc>
                  <a:txBody>
                    <a:bodyPr/>
                    <a:lstStyle/>
                    <a:p>
                      <a:r>
                        <a:rPr sz="1300" b="1" i="0">
                          <a:solidFill>
                            <a:srgbClr val="FFFFFF"/>
                          </a:solidFill>
                          <a:latin typeface="Arial"/>
                        </a:rPr>
                        <a:t>Participant</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Weight (kg)</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Dose (mg/kg)</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Cmax (mg/L)</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c>
                  <a:txBody>
                    <a:bodyPr/>
                    <a:lstStyle/>
                    <a:p>
                      <a:r>
                        <a:rPr sz="1300" b="1" i="0">
                          <a:solidFill>
                            <a:srgbClr val="FFFFFF"/>
                          </a:solidFill>
                          <a:latin typeface="Arial"/>
                        </a:rPr>
                        <a:t>Tmax (hr)</a:t>
                      </a:r>
                    </a:p>
                  </a:txBody>
                  <a:tcPr>
                    <a:lnL w="9525">
                      <a:solidFill>
                        <a:srgbClr val="5F6368"/>
                      </a:solidFill>
                    </a:lnL>
                    <a:lnR w="9525">
                      <a:solidFill>
                        <a:srgbClr val="5F6368"/>
                      </a:solidFill>
                    </a:lnR>
                    <a:lnT w="9525">
                      <a:solidFill>
                        <a:srgbClr val="5F6368"/>
                      </a:solidFill>
                    </a:lnT>
                    <a:lnB w="9525">
                      <a:solidFill>
                        <a:srgbClr val="5F6368"/>
                      </a:solidFill>
                    </a:lnB>
                    <a:solidFill>
                      <a:srgbClr val="2457A6"/>
                    </a:solidFill>
                  </a:tcPr>
                </a:tc>
              </a:tr>
              <a:tr h="302455">
                <a:tc>
                  <a:txBody>
                    <a:bodyPr/>
                    <a:lstStyle/>
                    <a:p>
                      <a:r>
                        <a:rPr sz="1300" b="0" i="0">
                          <a:solidFill>
                            <a:srgbClr val="202124"/>
                          </a:solidFill>
                          <a:latin typeface="Arial"/>
                        </a:rPr>
                        <a:t>1</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79.6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4.02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10.50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1.12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02455">
                <a:tc>
                  <a:txBody>
                    <a:bodyPr/>
                    <a:lstStyle/>
                    <a:p>
                      <a:r>
                        <a:rPr sz="1300" b="0" i="0">
                          <a:solidFill>
                            <a:srgbClr val="202124"/>
                          </a:solidFill>
                          <a:latin typeface="Arial"/>
                        </a:rPr>
                        <a:t>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72.4</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4.40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8.33</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1.92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02455">
                <a:tc>
                  <a:txBody>
                    <a:bodyPr/>
                    <a:lstStyle/>
                    <a:p>
                      <a:r>
                        <a:rPr sz="1300" b="0" i="0">
                          <a:solidFill>
                            <a:srgbClr val="202124"/>
                          </a:solidFill>
                          <a:latin typeface="Arial"/>
                        </a:rPr>
                        <a:t>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70.5</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4.53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8.20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1.02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02455">
                <a:tc>
                  <a:txBody>
                    <a:bodyPr/>
                    <a:lstStyle/>
                    <a:p>
                      <a:r>
                        <a:rPr sz="1300" b="0" i="0">
                          <a:solidFill>
                            <a:srgbClr val="202124"/>
                          </a:solidFill>
                          <a:latin typeface="Arial"/>
                        </a:rPr>
                        <a:t>4</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72.7</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4.40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8.60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1.07</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02455">
                <a:tc>
                  <a:txBody>
                    <a:bodyPr/>
                    <a:lstStyle/>
                    <a:p>
                      <a:r>
                        <a:rPr sz="1300" b="0" i="0">
                          <a:solidFill>
                            <a:srgbClr val="202124"/>
                          </a:solidFill>
                          <a:latin typeface="Arial"/>
                        </a:rPr>
                        <a:t>5</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54.6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5.86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11.40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1.00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02455">
                <a:tc>
                  <a:txBody>
                    <a:bodyPr/>
                    <a:lstStyle/>
                    <a:p>
                      <a:r>
                        <a:rPr sz="1300" b="0" i="0">
                          <a:solidFill>
                            <a:srgbClr val="202124"/>
                          </a:solidFill>
                          <a:latin typeface="Arial"/>
                        </a:rPr>
                        <a:t>6</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80.0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4.00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6.44</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1.15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02455">
                <a:tc>
                  <a:txBody>
                    <a:bodyPr/>
                    <a:lstStyle/>
                    <a:p>
                      <a:r>
                        <a:rPr sz="1300" b="0" i="0">
                          <a:solidFill>
                            <a:srgbClr val="202124"/>
                          </a:solidFill>
                          <a:latin typeface="Arial"/>
                        </a:rPr>
                        <a:t>7</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64.6</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4.95</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7.09</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3.48</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02455">
                <a:tc>
                  <a:txBody>
                    <a:bodyPr/>
                    <a:lstStyle/>
                    <a:p>
                      <a:r>
                        <a:rPr sz="1300" b="0" i="0">
                          <a:solidFill>
                            <a:srgbClr val="202124"/>
                          </a:solidFill>
                          <a:latin typeface="Arial"/>
                        </a:rPr>
                        <a:t>8</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70.5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4.53</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7.56</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2.02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02455">
                <a:tc>
                  <a:txBody>
                    <a:bodyPr/>
                    <a:lstStyle/>
                    <a:p>
                      <a:r>
                        <a:rPr sz="1300" b="0" i="0">
                          <a:solidFill>
                            <a:srgbClr val="202124"/>
                          </a:solidFill>
                          <a:latin typeface="Arial"/>
                        </a:rPr>
                        <a:t>9</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86.4</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3.10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9.03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0.63</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02455">
                <a:tc>
                  <a:txBody>
                    <a:bodyPr/>
                    <a:lstStyle/>
                    <a:p>
                      <a:r>
                        <a:rPr sz="1300" b="0" i="0">
                          <a:solidFill>
                            <a:srgbClr val="202124"/>
                          </a:solidFill>
                          <a:latin typeface="Arial"/>
                        </a:rPr>
                        <a:t>10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58.2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5.50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10.21</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3.55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r h="302455">
                <a:tc>
                  <a:txBody>
                    <a:bodyPr/>
                    <a:lstStyle/>
                    <a:p>
                      <a:r>
                        <a:rPr sz="1300" b="0" i="0">
                          <a:solidFill>
                            <a:srgbClr val="202124"/>
                          </a:solidFill>
                          <a:latin typeface="Arial"/>
                        </a:rPr>
                        <a:t>11</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65.0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4.92</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8.00</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c>
                  <a:txBody>
                    <a:bodyPr/>
                    <a:lstStyle/>
                    <a:p>
                      <a:r>
                        <a:rPr sz="1300" b="0" i="0">
                          <a:solidFill>
                            <a:srgbClr val="202124"/>
                          </a:solidFill>
                          <a:latin typeface="Arial"/>
                        </a:rPr>
                        <a:t>0.98</a:t>
                      </a:r>
                    </a:p>
                  </a:txBody>
                  <a:tcPr>
                    <a:lnL w="9525">
                      <a:solidFill>
                        <a:srgbClr val="5F6368"/>
                      </a:solidFill>
                    </a:lnL>
                    <a:lnR w="9525">
                      <a:solidFill>
                        <a:srgbClr val="5F6368"/>
                      </a:solidFill>
                    </a:lnR>
                    <a:lnT w="9525">
                      <a:solidFill>
                        <a:srgbClr val="5F6368"/>
                      </a:solidFill>
                    </a:lnT>
                    <a:lnB w="9525">
                      <a:solidFill>
                        <a:srgbClr val="5F6368"/>
                      </a:solidFill>
                    </a:lnB>
                    <a:solidFill>
                      <a:srgbClr val="FFFFFF"/>
                    </a:solidFill>
                  </a:tcPr>
                </a:tc>
              </a:tr>
              <a:tr h="302460">
                <a:tc>
                  <a:txBody>
                    <a:bodyPr/>
                    <a:lstStyle/>
                    <a:p>
                      <a:r>
                        <a:rPr sz="1300" b="0" i="0">
                          <a:solidFill>
                            <a:srgbClr val="202124"/>
                          </a:solidFill>
                          <a:latin typeface="Arial"/>
                        </a:rPr>
                        <a:t>12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60.5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5.30</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9.75</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c>
                  <a:txBody>
                    <a:bodyPr/>
                    <a:lstStyle/>
                    <a:p>
                      <a:r>
                        <a:rPr sz="1300" b="0" i="0">
                          <a:solidFill>
                            <a:srgbClr val="202124"/>
                          </a:solidFill>
                          <a:latin typeface="Arial"/>
                        </a:rPr>
                        <a:t>3.52</a:t>
                      </a:r>
                    </a:p>
                  </a:txBody>
                  <a:tcPr>
                    <a:lnL w="9525">
                      <a:solidFill>
                        <a:srgbClr val="5F6368"/>
                      </a:solidFill>
                    </a:lnL>
                    <a:lnR w="9525">
                      <a:solidFill>
                        <a:srgbClr val="5F6368"/>
                      </a:solidFill>
                    </a:lnR>
                    <a:lnT w="9525">
                      <a:solidFill>
                        <a:srgbClr val="5F6368"/>
                      </a:solidFill>
                    </a:lnT>
                    <a:lnB w="9525">
                      <a:solidFill>
                        <a:srgbClr val="5F6368"/>
                      </a:solidFill>
                    </a:lnB>
                    <a:solidFill>
                      <a:srgbClr val="E8EFFA"/>
                    </a:solidFill>
                  </a:tcPr>
                </a:tc>
              </a:tr>
            </a:tbl>
          </a:graphicData>
        </a:graphic>
      </p:graphicFrame>
      <p:sp>
        <p:nvSpPr>
          <p:cNvPr id="7" name="raw-table__footer"/>
          <p:cNvSpPr txBox="1"/>
          <p:nvPr/>
        </p:nvSpPr>
        <p:spPr>
          <a:xfrm>
            <a:off x="548640" y="5166360"/>
            <a:ext cx="6949440" cy="365760"/>
          </a:xfrm>
          <a:prstGeom prst="rect">
            <a:avLst/>
          </a:prstGeom>
          <a:noFill/>
        </p:spPr>
        <p:txBody>
          <a:bodyPr wrap="square" lIns="0" rIns="0" tIns="0" bIns="0">
            <a:spAutoFit/>
          </a:bodyPr>
          <a:lstStyle/>
          <a:p>
            <a:r>
              <a:rPr sz="800" b="0" i="0">
                <a:solidFill>
                  <a:srgbClr val="5F6368"/>
                </a:solidFill>
                <a:latin typeface="Arial"/>
              </a:rPr>
              <a:t>Notes: Raw per-participant values, one row per participant, with no aggregation or smoothing applied.</a:t>
            </a:r>
          </a:p>
        </p:txBody>
      </p:sp>
      <p:pic>
        <p:nvPicPr>
          <p:cNvPr id="8" name="flextable-summary" descr="A formatted summary table of mean, median, minimum, and maximum weight, dose, peak concentration, and time to peak concentration across all 12 participants, with a merged &quot;Population Summary&quot; header and the mean row highlighted."/>
          <p:cNvPicPr>
            <a:picLocks noChangeAspect="1"/>
          </p:cNvPicPr>
          <p:nvPr/>
        </p:nvPicPr>
        <p:blipFill>
          <a:blip r:embed="rId3"/>
          <a:srcRect/>
          <a:stretch>
            <a:fillRect/>
          </a:stretch>
        </p:blipFill>
        <p:spPr>
          <a:xfrm>
            <a:off x="7772400" y="1308391"/>
            <a:ext cx="3840480" cy="1177977"/>
          </a:xfrm>
          <a:prstGeom prst="rect">
            <a:avLst/>
          </a:prstGeom>
        </p:spPr>
      </p:pic>
      <p:sp>
        <p:nvSpPr>
          <p:cNvPr id="9" name="flextable-summary__footer"/>
          <p:cNvSpPr txBox="1"/>
          <p:nvPr/>
        </p:nvSpPr>
        <p:spPr>
          <a:xfrm>
            <a:off x="7772400" y="2560320"/>
            <a:ext cx="3840480" cy="365760"/>
          </a:xfrm>
          <a:prstGeom prst="rect">
            <a:avLst/>
          </a:prstGeom>
          <a:noFill/>
        </p:spPr>
        <p:txBody>
          <a:bodyPr wrap="square" lIns="0" rIns="0" tIns="0" bIns="0">
            <a:spAutoFit/>
          </a:bodyPr>
          <a:lstStyle/>
          <a:p>
            <a:r>
              <a:rPr sz="800" b="0" i="0">
                <a:solidFill>
                  <a:srgbClr val="5F6368"/>
                </a:solidFill>
                <a:latin typeface="Arial"/>
              </a:rPr>
              <a:t>Notes: Population-level summary statistics (mean, median, min, max) across all 12 participants; the mean row is highlighted.</a:t>
            </a:r>
          </a:p>
          <a:p>
            <a:r>
              <a:rPr sz="800" b="0" i="0">
                <a:solidFill>
                  <a:srgbClr val="5F6368"/>
                </a:solidFill>
                <a:latin typeface="Arial"/>
              </a:rPr>
              <a:t>Abbreviations: PK: pharmacokinetic.</a:t>
            </a:r>
          </a:p>
        </p:txBody>
      </p:sp>
      <p:sp>
        <p:nvSpPr>
          <p:cNvPr id="10" name="__furniture_status"/>
          <p:cNvSpPr txBox="1"/>
          <p:nvPr/>
        </p:nvSpPr>
        <p:spPr>
          <a:xfrm rot="19800000">
            <a:off x="1371600" y="2286000"/>
            <a:ext cx="9448495" cy="2286000"/>
          </a:xfrm>
          <a:prstGeom prst="rect">
            <a:avLst/>
          </a:prstGeom>
          <a:noFill/>
        </p:spPr>
        <p:txBody>
          <a:bodyPr wrap="square" lIns="0" rIns="0" tIns="0" bIns="0" anchor="ctr">
            <a:spAutoFit/>
          </a:bodyPr>
          <a:lstStyle/>
          <a:p>
            <a:pPr algn="ctr"/>
            <a:r>
              <a:rPr sz="9600" b="1" i="0">
                <a:solidFill>
                  <a:srgbClr val="2457A6">
                    <a:alpha val="28000"/>
                  </a:srgbClr>
                </a:solidFill>
                <a:latin typeface="Arial"/>
              </a:rPr>
              <a:t>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F7FBFF"/>
            </a:gs>
            <a:gs pos="100000">
              <a:srgbClr val="9ECAE1"/>
            </a:gs>
          </a:gsLst>
          <a:lin scaled="0" ang="13500000"/>
        </a:gradFill>
        <a:effectLst/>
      </p:bgPr>
    </p:bg>
    <p:spTree>
      <p:nvGrpSpPr>
        <p:cNvPr id="1" name=""/>
        <p:cNvGrpSpPr/>
        <p:nvPr/>
      </p:nvGrpSpPr>
      <p:grpSpPr/>
      <p:pic>
        <p:nvPicPr>
          <p:cNvPr id="2" name="__furniture_background" descr="Background image"/>
          <p:cNvPicPr>
            <a:picLocks noChangeAspect="1"/>
          </p:cNvPicPr>
          <p:nvPr/>
        </p:nvPicPr>
        <p:blipFill>
          <a:blip r:embed="rId2"/>
          <a:srcRect/>
          <a:stretch>
            <a:fillRect/>
          </a:stretch>
        </p:blipFill>
        <p:spPr>
          <a:xfrm>
            <a:off x="0" y="86"/>
            <a:ext cx="12191695" cy="6857828"/>
          </a:xfrm>
          <a:prstGeom prst="rect">
            <a:avLst/>
          </a:prstGeom>
        </p:spPr>
      </p:pic>
      <p:sp>
        <p:nvSpPr>
          <p:cNvPr id="3" name="__furniture_branding"/>
          <p:cNvSpPr txBox="1"/>
          <p:nvPr/>
        </p:nvSpPr>
        <p:spPr>
          <a:xfrm>
            <a:off x="320040" y="6446520"/>
            <a:ext cx="3657600" cy="274320"/>
          </a:xfrm>
          <a:prstGeom prst="rect">
            <a:avLst/>
          </a:prstGeom>
          <a:noFill/>
        </p:spPr>
        <p:txBody>
          <a:bodyPr wrap="square" lIns="0" rIns="0" tIns="0" bIns="0">
            <a:spAutoFit/>
          </a:bodyPr>
          <a:lstStyle/>
          <a:p>
            <a:r>
              <a:rPr sz="800" b="0" i="0">
                <a:solidFill>
                  <a:srgbClr val="5F6368"/>
                </a:solidFill>
                <a:latin typeface="Arial"/>
              </a:rPr>
              <a:t>Deckifyr Demo</a:t>
            </a:r>
          </a:p>
        </p:txBody>
      </p:sp>
      <p:sp>
        <p:nvSpPr>
          <p:cNvPr id="4" name="__furniture_page_number"/>
          <p:cNvSpPr txBox="1"/>
          <p:nvPr/>
        </p:nvSpPr>
        <p:spPr>
          <a:xfrm>
            <a:off x="5029200" y="6446520"/>
            <a:ext cx="914400" cy="274320"/>
          </a:xfrm>
          <a:prstGeom prst="rect">
            <a:avLst/>
          </a:prstGeom>
          <a:noFill/>
        </p:spPr>
        <p:txBody>
          <a:bodyPr wrap="square" lIns="0" rIns="0" tIns="0" bIns="0">
            <a:spAutoFit/>
          </a:bodyPr>
          <a:lstStyle/>
          <a:p>
            <a:r>
              <a:rPr sz="800" b="0" i="0">
                <a:solidFill>
                  <a:srgbClr val="5F6368"/>
                </a:solidFill>
                <a:latin typeface="Arial"/>
              </a:rPr>
              <a:t>6 / 6</a:t>
            </a:r>
          </a:p>
        </p:txBody>
      </p:sp>
      <p:sp>
        <p:nvSpPr>
          <p:cNvPr id="5" name="closing-title"/>
          <p:cNvSpPr txBox="1"/>
          <p:nvPr/>
        </p:nvSpPr>
        <p:spPr>
          <a:xfrm>
            <a:off x="822960" y="2468880"/>
            <a:ext cx="10515600" cy="822960"/>
          </a:xfrm>
          <a:prstGeom prst="rect">
            <a:avLst/>
          </a:prstGeom>
          <a:noFill/>
        </p:spPr>
        <p:txBody>
          <a:bodyPr wrap="square" lIns="0" rIns="0" tIns="0" bIns="0">
            <a:spAutoFit/>
          </a:bodyPr>
          <a:lstStyle/>
          <a:p>
            <a:r>
              <a:rPr sz="2800" b="1" i="0">
                <a:solidFill>
                  <a:srgbClr val="2457A6"/>
                </a:solidFill>
                <a:latin typeface="Arial"/>
              </a:rPr>
              <a:t>Generated with deckifyr</a:t>
            </a:r>
          </a:p>
        </p:txBody>
      </p:sp>
      <p:sp>
        <p:nvSpPr>
          <p:cNvPr id="6" name="closing-note"/>
          <p:cNvSpPr txBox="1"/>
          <p:nvPr/>
        </p:nvSpPr>
        <p:spPr>
          <a:xfrm>
            <a:off x="822960" y="3383280"/>
            <a:ext cx="10515600" cy="1188720"/>
          </a:xfrm>
          <a:prstGeom prst="rect">
            <a:avLst/>
          </a:prstGeom>
          <a:noFill/>
        </p:spPr>
        <p:txBody>
          <a:bodyPr wrap="square" lIns="0" rIns="0" tIns="0" bIns="0">
            <a:spAutoFit/>
          </a:bodyPr>
          <a:lstStyle/>
          <a:p>
            <a:r>
              <a:rPr sz="1600" b="0" i="0">
                <a:solidFill>
                  <a:srgbClr val="202124"/>
                </a:solidFill>
                <a:latin typeface="Arial"/>
              </a:rPr>
              <a:t>This deck was compiled entirely from version-controlled YAML in this directory -- design.yaml, layouts.yaml, and presentation.yaml -- with </a:t>
            </a:r>
            <a:r>
              <a:rPr sz="1600" b="1" i="0">
                <a:solidFill>
                  <a:srgbClr val="202124"/>
                </a:solidFill>
                <a:latin typeface="Arial"/>
              </a:rPr>
              <a:t>no manual slide editing</a:t>
            </a:r>
            <a:r>
              <a:rPr sz="1600" b="0" i="0">
                <a:solidFill>
                  <a:srgbClr val="202124"/>
                </a:solidFill>
                <a:latin typeface="Arial"/>
              </a:rPr>
              <a:t>.</a:t>
            </a:r>
          </a:p>
        </p:txBody>
      </p:sp>
      <p:pic>
        <p:nvPicPr>
          <p:cNvPr id="7" name="logo" descr="Organization logo"/>
          <p:cNvPicPr>
            <a:picLocks noChangeAspect="1"/>
          </p:cNvPicPr>
          <p:nvPr/>
        </p:nvPicPr>
        <p:blipFill>
          <a:blip r:embed="rId3"/>
          <a:srcRect/>
          <a:stretch>
            <a:fillRect/>
          </a:stretch>
        </p:blipFill>
        <p:spPr>
          <a:xfrm rot="21420000">
            <a:off x="9692640" y="6004560"/>
            <a:ext cx="1828800" cy="609600"/>
          </a:xfrm>
          <a:prstGeom prst="rect">
            <a:avLst/>
          </a:prstGeom>
        </p:spPr>
      </p:pic>
      <p:sp>
        <p:nvSpPr>
          <p:cNvPr id="8" name="__furniture_status"/>
          <p:cNvSpPr txBox="1"/>
          <p:nvPr/>
        </p:nvSpPr>
        <p:spPr>
          <a:xfrm rot="19800000">
            <a:off x="1371600" y="2286000"/>
            <a:ext cx="9448495" cy="2286000"/>
          </a:xfrm>
          <a:prstGeom prst="rect">
            <a:avLst/>
          </a:prstGeom>
          <a:noFill/>
        </p:spPr>
        <p:txBody>
          <a:bodyPr wrap="square" lIns="0" rIns="0" tIns="0" bIns="0" anchor="ctr">
            <a:spAutoFit/>
          </a:bodyPr>
          <a:lstStyle/>
          <a:p>
            <a:pPr algn="ctr"/>
            <a:r>
              <a:rPr sz="9600" b="1" i="0">
                <a:solidFill>
                  <a:srgbClr val="2457A6">
                    <a:alpha val="28000"/>
                  </a:srgbClr>
                </a:solidFill>
                <a:latin typeface="Arial"/>
              </a:rPr>
              <a:t>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